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1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2" r:id="rId6"/>
    <p:sldId id="258" r:id="rId7"/>
    <p:sldId id="269" r:id="rId8"/>
    <p:sldId id="270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CCD2D8"/>
    <a:srgbClr val="005D64"/>
    <a:srgbClr val="000000"/>
    <a:srgbClr val="FFFFFF"/>
    <a:srgbClr val="00B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D68B7C-ABC6-034A-89E8-8C1D0E4F5473}" v="2" dt="2025-10-25T04:52:42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8" autoAdjust="0"/>
    <p:restoredTop sz="94650"/>
  </p:normalViewPr>
  <p:slideViewPr>
    <p:cSldViewPr snapToGrid="0">
      <p:cViewPr varScale="1">
        <p:scale>
          <a:sx n="78" d="100"/>
          <a:sy n="78" d="100"/>
        </p:scale>
        <p:origin x="6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Azevedo" userId="a8ac4786-41cb-4169-8057-3b9bdd90627c" providerId="ADAL" clId="{4D3F6E44-0A7A-504F-8327-F08F79172F1E}"/>
    <pc:docChg chg="undo custSel modSld">
      <pc:chgData name="Leonardo Azevedo" userId="a8ac4786-41cb-4169-8057-3b9bdd90627c" providerId="ADAL" clId="{4D3F6E44-0A7A-504F-8327-F08F79172F1E}" dt="2025-10-17T21:24:13.791" v="1" actId="14100"/>
      <pc:docMkLst>
        <pc:docMk/>
      </pc:docMkLst>
      <pc:sldChg chg="modSp mod">
        <pc:chgData name="Leonardo Azevedo" userId="a8ac4786-41cb-4169-8057-3b9bdd90627c" providerId="ADAL" clId="{4D3F6E44-0A7A-504F-8327-F08F79172F1E}" dt="2025-10-17T21:24:13.791" v="1" actId="14100"/>
        <pc:sldMkLst>
          <pc:docMk/>
          <pc:sldMk cId="1038586428" sldId="266"/>
        </pc:sldMkLst>
        <pc:picChg chg="mod">
          <ac:chgData name="Leonardo Azevedo" userId="a8ac4786-41cb-4169-8057-3b9bdd90627c" providerId="ADAL" clId="{4D3F6E44-0A7A-504F-8327-F08F79172F1E}" dt="2025-10-17T21:24:13.791" v="1" actId="14100"/>
          <ac:picMkLst>
            <pc:docMk/>
            <pc:sldMk cId="1038586428" sldId="266"/>
            <ac:picMk id="5" creationId="{9715B01B-9884-E300-1103-348135CA22A0}"/>
          </ac:picMkLst>
        </pc:picChg>
      </pc:sldChg>
    </pc:docChg>
  </pc:docChgLst>
  <pc:docChgLst>
    <pc:chgData name="Leonardo Azevedo" userId="a8ac4786-41cb-4169-8057-3b9bdd90627c" providerId="ADAL" clId="{281B4DBA-E118-55FF-ACB7-D431D06FD75B}"/>
    <pc:docChg chg="undo custSel modSld">
      <pc:chgData name="Leonardo Azevedo" userId="a8ac4786-41cb-4169-8057-3b9bdd90627c" providerId="ADAL" clId="{281B4DBA-E118-55FF-ACB7-D431D06FD75B}" dt="2025-10-25T04:52:42.948" v="3" actId="1076"/>
      <pc:docMkLst>
        <pc:docMk/>
      </pc:docMkLst>
      <pc:sldChg chg="addSp modSp mod">
        <pc:chgData name="Leonardo Azevedo" userId="a8ac4786-41cb-4169-8057-3b9bdd90627c" providerId="ADAL" clId="{281B4DBA-E118-55FF-ACB7-D431D06FD75B}" dt="2025-10-25T04:52:42.948" v="3" actId="1076"/>
        <pc:sldMkLst>
          <pc:docMk/>
          <pc:sldMk cId="1736152766" sldId="256"/>
        </pc:sldMkLst>
        <pc:spChg chg="add mod">
          <ac:chgData name="Leonardo Azevedo" userId="a8ac4786-41cb-4169-8057-3b9bdd90627c" providerId="ADAL" clId="{281B4DBA-E118-55FF-ACB7-D431D06FD75B}" dt="2025-10-25T04:52:42.527" v="2" actId="767"/>
          <ac:spMkLst>
            <pc:docMk/>
            <pc:sldMk cId="1736152766" sldId="256"/>
            <ac:spMk id="4" creationId="{8CAC27D0-E18B-200C-78DC-F2335A3FD01C}"/>
          </ac:spMkLst>
        </pc:spChg>
        <pc:spChg chg="mod">
          <ac:chgData name="Leonardo Azevedo" userId="a8ac4786-41cb-4169-8057-3b9bdd90627c" providerId="ADAL" clId="{281B4DBA-E118-55FF-ACB7-D431D06FD75B}" dt="2025-10-25T04:52:42.948" v="3" actId="1076"/>
          <ac:spMkLst>
            <pc:docMk/>
            <pc:sldMk cId="1736152766" sldId="256"/>
            <ac:spMk id="9" creationId="{0A011243-AD01-1FA9-E163-1C42DE3A84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23D74-BDEA-FC17-9597-C85C4EC51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0A6D7-DD11-7FDA-583F-4D204D9617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69BC-BE67-4A47-9AEE-5211E8E1AF2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3BA61-F234-A095-E0F1-4771E738B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2F3F6-8D0C-830A-3DA9-86D5F8EFB7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E3746-3655-499D-86DB-488167B26A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06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6463B-7C16-BE46-83CD-FCD509A46C06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8BDD3-A717-8D45-806C-A9E4784F10B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8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AF805F7-DB33-2527-F821-C232409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8FC9-D88F-4626-BA3F-81E382608CB3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072033E-98D9-6561-2501-9E6727D6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49286" y="6261103"/>
            <a:ext cx="6275400" cy="45499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 algn="just">
              <a:tabLst>
                <a:tab pos="2637155" algn="ctr"/>
                <a:tab pos="5274310" algn="r"/>
              </a:tabLst>
            </a:pP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This project has received funding from the European Union’s Horizon Europe Research and Innovation </a:t>
            </a:r>
            <a:r>
              <a:rPr lang="en-US" sz="1200" dirty="0" err="1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Programme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under the Grant Agreement No.</a:t>
            </a:r>
            <a:r>
              <a:rPr lang="en-US" sz="1200" dirty="0"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101178775</a:t>
            </a:r>
            <a:endParaRPr lang="en-US" sz="1200" dirty="0">
              <a:effectLst/>
              <a:latin typeface="Georgia" panose="02040502050405020303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E18211-338B-B1FA-F477-F626AF24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5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BD8942-78FF-3E89-AD37-91AC61559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BCFC30-3158-2313-186C-2CCCD39BA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5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ACDD39-1146-7B6B-9815-5EE1A740A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5C6303-98B0-57F1-590F-86A46B8D3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7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EA06D8-2DB8-0718-01A4-76BFD891F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8076450-8BB2-9130-780C-110ADE36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2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31EC7A-D5E0-19D8-15FB-D0B140E9B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8E8270A-6453-652F-3F4D-21646A9905E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2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B6F0711-65AF-C2BA-67BA-EF76CD1BE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E1160-D1D2-3A23-F42B-907AEB397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77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9ECF73-5954-8C0F-0E86-AAA25BF4E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4FEEC65-999C-0116-2EB1-8350DECA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80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solidFill>
                  <a:schemeClr val="tx1"/>
                </a:soli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1E6FD90-2B1B-2A55-78BF-8309F318B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7EAC486-5978-CC7E-3DB0-71883E2D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9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581DF8-FB35-0B6A-2310-C7D72DA7B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0408931-09E3-0BAD-54F8-BE7C03B50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5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8D419C6-4F43-173A-AFEF-DAC1728C2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B3CD47-0085-F9A1-A075-F61A16315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3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18D6-3454-5D82-B9D4-ADFAB26E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08563A9-C7A7-7570-F6C2-8C08D2CE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FA3B-BACC-E92D-AD24-1AF3591D0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09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95"/>
            <a:ext cx="10515600" cy="9177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2782"/>
            <a:ext cx="10515600" cy="4915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5474EF-31F5-A151-6232-C190E68EEEF6}"/>
              </a:ext>
            </a:extLst>
          </p:cNvPr>
          <p:cNvCxnSpPr/>
          <p:nvPr userDrawn="1"/>
        </p:nvCxnSpPr>
        <p:spPr>
          <a:xfrm>
            <a:off x="838200" y="948227"/>
            <a:ext cx="105156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FF35101-3016-7365-CD37-4723772AF47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1293230" y="6212982"/>
            <a:ext cx="709959" cy="551237"/>
          </a:xfrm>
          <a:prstGeom prst="rect">
            <a:avLst/>
          </a:prstGeom>
        </p:spPr>
      </p:pic>
      <p:pic>
        <p:nvPicPr>
          <p:cNvPr id="7" name="Picture 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31744439-3BA0-2AB1-D431-23A7B2FE783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040" y="6234138"/>
            <a:ext cx="2284346" cy="508925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4D69EE-4200-66FE-3076-DCBAA22FB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039" y="6326057"/>
            <a:ext cx="523150" cy="3250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D3060201-1C40-4B39-813D-5CD9493BAEE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47EAE7F-C6F8-6595-8057-C76781319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24686" y="6306038"/>
            <a:ext cx="1559312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Georgia" panose="02040502050405020303" pitchFamily="18" charset="0"/>
              </a:defRPr>
            </a:lvl1pPr>
          </a:lstStyle>
          <a:p>
            <a:fld id="{32DFA38A-F467-4870-9C25-5949E68A8944}" type="datetime1">
              <a:rPr lang="en-US" smtClean="0"/>
              <a:pPr/>
              <a:t>10/28/2025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3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70" r:id="rId6"/>
    <p:sldLayoutId id="2147483766" r:id="rId7"/>
    <p:sldLayoutId id="2147483767" r:id="rId8"/>
    <p:sldLayoutId id="2147483769" r:id="rId9"/>
    <p:sldLayoutId id="2147483768" r:id="rId10"/>
    <p:sldLayoutId id="214748377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0" i="0" kern="1200" smtClean="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Georgia" panose="02040502050405020303" pitchFamily="18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9.png"/><Relationship Id="rId4" Type="http://schemas.openxmlformats.org/officeDocument/2006/relationships/image" Target="../media/image5.jpe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D8A8D11-DB51-43C0-8618-65C820DB4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25D97-CF23-8893-D0BA-82F7DC3F4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333" y="2234156"/>
            <a:ext cx="4638567" cy="2286162"/>
          </a:xfrm>
        </p:spPr>
        <p:txBody>
          <a:bodyPr anchor="t">
            <a:normAutofit/>
          </a:bodyPr>
          <a:lstStyle/>
          <a:p>
            <a:pPr algn="ctr"/>
            <a:endParaRPr lang="en-GB" sz="3000" b="1" dirty="0">
              <a:solidFill>
                <a:srgbClr val="6E6E6E"/>
              </a:solidFill>
              <a:latin typeface="Arial"/>
              <a:cs typeface="Arial"/>
            </a:endParaRPr>
          </a:p>
          <a:p>
            <a:pPr algn="ctr"/>
            <a:endParaRPr lang="en-GB" sz="3000" b="1" dirty="0">
              <a:solidFill>
                <a:srgbClr val="6E6E6E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CDF34-FBB7-AB51-8C7D-C271F47B1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333" y="4922110"/>
            <a:ext cx="4638567" cy="94337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i="1">
              <a:ea typeface="Verdana"/>
            </a:endParaRP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59F9-6749-67F3-8B1A-35B3CBE8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96279" y="141452"/>
            <a:ext cx="2399443" cy="1863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4311D3-9CEB-A7CA-EDC0-30D9B90ECA09}"/>
              </a:ext>
            </a:extLst>
          </p:cNvPr>
          <p:cNvSpPr txBox="1"/>
          <p:nvPr/>
        </p:nvSpPr>
        <p:spPr>
          <a:xfrm>
            <a:off x="1752600" y="2546240"/>
            <a:ext cx="86868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latin typeface="Georgia"/>
              </a:rPr>
              <a:t>Ore Exploration Policy Design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11243-AD01-1FA9-E163-1C42DE3A8464}"/>
              </a:ext>
            </a:extLst>
          </p:cNvPr>
          <p:cNvSpPr txBox="1"/>
          <p:nvPr/>
        </p:nvSpPr>
        <p:spPr>
          <a:xfrm>
            <a:off x="3636434" y="3779029"/>
            <a:ext cx="49191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Georgia"/>
              </a:rPr>
              <a:t>Lule</a:t>
            </a:r>
            <a:r>
              <a:rPr lang="sv-SE" sz="2400" dirty="0">
                <a:latin typeface="Georgia"/>
              </a:rPr>
              <a:t>å </a:t>
            </a:r>
            <a:r>
              <a:rPr lang="en-US" sz="2400" dirty="0">
                <a:latin typeface="Georgia"/>
              </a:rPr>
              <a:t>University of Technology</a:t>
            </a:r>
            <a:endParaRPr lang="en-US" sz="2400" dirty="0"/>
          </a:p>
        </p:txBody>
      </p:sp>
      <p:pic>
        <p:nvPicPr>
          <p:cNvPr id="7" name="Picture 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A78C2567-4243-4D52-CC0E-E8A232130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0" y="6232867"/>
            <a:ext cx="2284346" cy="508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8E7B93-D685-7B9E-9F53-ACD553E5CEBC}"/>
              </a:ext>
            </a:extLst>
          </p:cNvPr>
          <p:cNvSpPr txBox="1"/>
          <p:nvPr/>
        </p:nvSpPr>
        <p:spPr>
          <a:xfrm>
            <a:off x="3247977" y="6252713"/>
            <a:ext cx="5675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2637155" algn="ctr"/>
                <a:tab pos="5274310" algn="r"/>
              </a:tabLst>
            </a:pP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This project has received funding from the European Union’s Horizon Europe Research and Innovation </a:t>
            </a:r>
            <a:r>
              <a:rPr lang="en-US" sz="1200" dirty="0" err="1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Programme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under the Grant Agreement No.</a:t>
            </a:r>
            <a:r>
              <a:rPr lang="en-US" sz="1200" dirty="0"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101178775</a:t>
            </a:r>
            <a:endParaRPr lang="en-US" sz="1200" dirty="0">
              <a:effectLst/>
              <a:latin typeface="Georgia" panose="02040502050405020303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152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F3E10-52FF-308C-A653-E9356617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BD42DD7-246B-16C9-167A-599EADC46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C822-1D57-0988-83C7-13703220A874}"/>
              </a:ext>
            </a:extLst>
          </p:cNvPr>
          <p:cNvSpPr txBox="1"/>
          <p:nvPr/>
        </p:nvSpPr>
        <p:spPr>
          <a:xfrm>
            <a:off x="5357813" y="63150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2E6DA-F091-FE84-0CD0-32AEF1EC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35210" y="347834"/>
            <a:ext cx="2321581" cy="1802557"/>
          </a:xfrm>
          <a:prstGeom prst="rect">
            <a:avLst/>
          </a:prstGeom>
        </p:spPr>
      </p:pic>
      <p:pic>
        <p:nvPicPr>
          <p:cNvPr id="3" name="Picture 2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C09FBC7-9D12-2A42-8374-E48A24623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0" y="6232867"/>
            <a:ext cx="2284346" cy="508925"/>
          </a:xfrm>
          <a:prstGeom prst="rect">
            <a:avLst/>
          </a:prstGeom>
        </p:spPr>
      </p:pic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E94803E9-BA13-956A-D6EF-8B95879F5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05" y="2780984"/>
            <a:ext cx="1800124" cy="885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7CF512-8EDE-AA67-E4F6-59C875B33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172" y="2780984"/>
            <a:ext cx="2727782" cy="885692"/>
          </a:xfrm>
          <a:prstGeom prst="rect">
            <a:avLst/>
          </a:prstGeom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C8EFBC5C-ABAD-12D1-6A75-2C1D7A651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t="7236" r="2275" b="7045"/>
          <a:stretch/>
        </p:blipFill>
        <p:spPr bwMode="auto">
          <a:xfrm>
            <a:off x="468375" y="4219404"/>
            <a:ext cx="2734390" cy="89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Wrocław University of Science and Technology | study.gov.pl">
            <a:extLst>
              <a:ext uri="{FF2B5EF4-FFF2-40B4-BE49-F238E27FC236}">
                <a16:creationId xmlns:a16="http://schemas.microsoft.com/office/drawing/2014/main" id="{5935CD35-F36C-ACFE-DC9E-F3C3D7701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697" y="2776632"/>
            <a:ext cx="3481977" cy="89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Pact Project: Partners">
            <a:extLst>
              <a:ext uri="{FF2B5EF4-FFF2-40B4-BE49-F238E27FC236}">
                <a16:creationId xmlns:a16="http://schemas.microsoft.com/office/drawing/2014/main" id="{49DD3DE6-5B11-E85A-0358-1CD18A39C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416" y="2785928"/>
            <a:ext cx="2458401" cy="87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Industrial Minerals Association Europe - Coralis">
            <a:extLst>
              <a:ext uri="{FF2B5EF4-FFF2-40B4-BE49-F238E27FC236}">
                <a16:creationId xmlns:a16="http://schemas.microsoft.com/office/drawing/2014/main" id="{BE216364-6377-5061-F1BA-D69685023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225" y="4219069"/>
            <a:ext cx="1790130" cy="89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Gek Terna - Logos">
            <a:extLst>
              <a:ext uri="{FF2B5EF4-FFF2-40B4-BE49-F238E27FC236}">
                <a16:creationId xmlns:a16="http://schemas.microsoft.com/office/drawing/2014/main" id="{724EE9F0-B426-96DF-23AD-2EBA35626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097" y="4222956"/>
            <a:ext cx="3371790" cy="88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of a company&#10;&#10;Description automatically generated">
            <a:extLst>
              <a:ext uri="{FF2B5EF4-FFF2-40B4-BE49-F238E27FC236}">
                <a16:creationId xmlns:a16="http://schemas.microsoft.com/office/drawing/2014/main" id="{6C777597-5BD7-0907-4F81-45444A0218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0762" y="4209488"/>
            <a:ext cx="1929093" cy="9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3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7FA867D-FC53-9969-7F6D-49D53BBD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C9A471C-0E09-C37D-0094-1352A8C01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200" b="0" dirty="0"/>
                  <a:t>The design of the environment utilizes scalar fields for environment descriptions.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200" dirty="0"/>
                  <a:t>The ore representation follows elliptical surfaces with sinusoidal distortions and low-frequency angular perturbations.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200" dirty="0"/>
                  <a:t>(1) The sinusoidal distortions follow a non-circular warp displacement to the ellipsis coordinates.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1200" dirty="0"/>
                  <a:t>(2) The scalar field is defined as a sum of smoothed surfaces</a:t>
                </a:r>
                <a:r>
                  <a:rPr lang="es-ES" sz="12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s-ES" sz="1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" sz="1200" dirty="0"/>
                  <a:t>(1)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r>
                      <a:rPr lang="es-ES" sz="12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ES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E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s-ES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s-E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1200" dirty="0"/>
                  <a:t> ;  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2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s-E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ES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E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sz="1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s-E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s-ES" sz="1200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s-E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E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s-ES" sz="1200" i="1">
                                                <a:latin typeface="Cambria Math" panose="02040503050406030204" pitchFamily="18" charset="0"/>
                                              </a:rPr>
                                              <m:t> 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s-ES" sz="1200" i="1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s-ES" sz="1200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GB" sz="1200" dirty="0">
                  <a:latin typeface="Georgia" panose="02040502050405020303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C9A471C-0E09-C37D-0094-1352A8C01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76E65-826C-F7F9-2411-2B31B27A3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51517" y="6366378"/>
            <a:ext cx="1559312" cy="365125"/>
          </a:xfrm>
        </p:spPr>
        <p:txBody>
          <a:bodyPr/>
          <a:lstStyle/>
          <a:p>
            <a:pPr algn="ctr"/>
            <a:fld id="{F72E42F2-007C-4A6F-85D4-2C8749D3BF79}" type="datetime1">
              <a:rPr lang="en-US" smtClean="0"/>
              <a:pPr algn="ctr"/>
              <a:t>10/28/2025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29CCC-64FB-F368-EACB-A84560AEE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1911" y="6366378"/>
            <a:ext cx="523150" cy="325087"/>
          </a:xfrm>
        </p:spPr>
        <p:txBody>
          <a:bodyPr/>
          <a:lstStyle/>
          <a:p>
            <a:pPr algn="ctr"/>
            <a:fld id="{D3060201-1C40-4B39-813D-5CD9493BAEED}" type="slidenum">
              <a:rPr lang="en-US" smtClean="0"/>
              <a:pPr algn="ctr"/>
              <a:t>3</a:t>
            </a:fld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D8D7D8D-A2A1-2FE1-6754-8C8940657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2" y="3641701"/>
            <a:ext cx="2984212" cy="255789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8D9E94-FDAF-9D95-ED4D-89FCA1A24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75" y="3641701"/>
            <a:ext cx="2984212" cy="25578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9AC50E-7A8B-FAD4-2B06-638D30D23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41701"/>
            <a:ext cx="2984212" cy="25578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9807E7F-805D-1DA5-AB84-E3B4570B7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333" y="3641701"/>
            <a:ext cx="2984212" cy="255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DA4965A-D22F-5089-2316-FFB61831C518}"/>
                  </a:ext>
                </a:extLst>
              </p:cNvPr>
              <p:cNvSpPr txBox="1"/>
              <p:nvPr/>
            </p:nvSpPr>
            <p:spPr>
              <a:xfrm>
                <a:off x="5974421" y="2562307"/>
                <a:ext cx="5120640" cy="1511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Where:</a:t>
                </a:r>
              </a:p>
              <a:p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 </a:t>
                </a:r>
                <a:endParaRPr lang="es-ES" sz="1200" dirty="0">
                  <a:latin typeface="Georgia" panose="02040502050405020303" pitchFamily="18" charset="0"/>
                  <a:ea typeface="Verdana" panose="020B060403050404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  <m:sub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sub>
                    </m:sSub>
                    <m:r>
                      <a:rPr lang="es-ES" sz="120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  <m:sub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 the ellipsis coordinates</a:t>
                </a:r>
                <a:endParaRPr lang="es-ES" sz="1200" dirty="0">
                  <a:latin typeface="Georgia" panose="02040502050405020303" pitchFamily="18" charset="0"/>
                  <a:ea typeface="Verdana" panose="020B060403050404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𝑤</m:t>
                        </m:r>
                      </m:e>
                      <m:sub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</m:sub>
                    </m:sSub>
                    <m:r>
                      <a:rPr lang="es-ES" sz="120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𝑤</m:t>
                        </m:r>
                      </m:e>
                      <m:sub>
                        <m:r>
                          <a:rPr lang="es-ES" sz="120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 the sinusoidal offsets</a:t>
                </a:r>
                <a:r>
                  <a:rPr lang="en-GB" sz="1000" dirty="0"/>
                  <a:t>	                   </a:t>
                </a:r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s-ES" sz="12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         </m:t>
                    </m:r>
                  </m:oMath>
                </a14:m>
                <a:endParaRPr lang="es-ES" sz="1200" b="0" i="0" dirty="0"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𝜎</m:t>
                    </m:r>
                    <m:r>
                      <a:rPr lang="en-GB" sz="1200" i="1" dirty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the smoothing factor            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𝑅</m:t>
                    </m:r>
                    <m:sSub>
                      <m:sSubPr>
                        <m:ctrlPr>
                          <a:rPr lang="en-GB" sz="1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’</m:t>
                        </m:r>
                      </m:e>
                      <m:sub>
                        <m:r>
                          <a:rPr lang="en-GB" sz="12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  <m:r>
                      <a:rPr lang="en-GB" sz="1200" i="1" dirty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GB" sz="1200" dirty="0">
                    <a:latin typeface="Georgia" panose="02040502050405020303" pitchFamily="18" charset="0"/>
                    <a:ea typeface="Verdana" panose="020B0604030504040204" pitchFamily="34" charset="0"/>
                  </a:rPr>
                  <a:t>the perturbed coordinates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DA4965A-D22F-5089-2316-FFB61831C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421" y="2562307"/>
                <a:ext cx="5120640" cy="1511183"/>
              </a:xfrm>
              <a:prstGeom prst="rect">
                <a:avLst/>
              </a:prstGeom>
              <a:blipFill>
                <a:blip r:embed="rId7"/>
                <a:stretch>
                  <a:fillRect t="-40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26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B772-E6A6-7F94-2E83-7C5E39AD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2F389E18-55FD-43C7-296A-59586CCC1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42" y="3641701"/>
            <a:ext cx="2984212" cy="255789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9B73F5B-E824-CBC6-E3C9-7114F4A5C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021" y="3641701"/>
            <a:ext cx="2984212" cy="2557896"/>
          </a:xfrm>
          <a:prstGeom prst="rect">
            <a:avLst/>
          </a:prstGeom>
        </p:spPr>
      </p:pic>
      <p:pic>
        <p:nvPicPr>
          <p:cNvPr id="12" name="Imagen 11" descr="Imagen que contiene Histograma&#10;&#10;El contenido generado por IA puede ser incorrecto.">
            <a:extLst>
              <a:ext uri="{FF2B5EF4-FFF2-40B4-BE49-F238E27FC236}">
                <a16:creationId xmlns:a16="http://schemas.microsoft.com/office/drawing/2014/main" id="{F58B010F-966F-C7C3-A388-2637F4E0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41701"/>
            <a:ext cx="2984212" cy="2557896"/>
          </a:xfrm>
          <a:prstGeom prst="rect">
            <a:avLst/>
          </a:prstGeom>
        </p:spPr>
      </p:pic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67292F96-7221-5750-0D23-1073FE959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397" y="3641701"/>
            <a:ext cx="2984212" cy="25578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EF9FE26-744A-5DAD-25E4-34176373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Discretization Step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84D188A-2C2E-9602-408A-E8678B624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cs typeface="Ubuntu"/>
                <a:sym typeface="Ubuntu"/>
              </a:rPr>
              <a:t>The scalar fields are discretized by averaging values over a defined block size.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cs typeface="Ubuntu"/>
                <a:sym typeface="Ubuntu"/>
              </a:rPr>
              <a:t>…</a:t>
            </a:r>
            <a:endParaRPr lang="en-US" sz="1200" b="0" dirty="0">
              <a:cs typeface="Ubuntu"/>
              <a:sym typeface="Ubuntu"/>
            </a:endParaRPr>
          </a:p>
          <a:p>
            <a:pPr>
              <a:lnSpc>
                <a:spcPct val="150000"/>
              </a:lnSpc>
            </a:pPr>
            <a:endParaRPr lang="en-GB" sz="1200" b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A8F46-A8B3-468F-4078-4A4A84D98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51517" y="6366378"/>
            <a:ext cx="1559312" cy="365125"/>
          </a:xfrm>
        </p:spPr>
        <p:txBody>
          <a:bodyPr/>
          <a:lstStyle/>
          <a:p>
            <a:pPr algn="ctr"/>
            <a:fld id="{F72E42F2-007C-4A6F-85D4-2C8749D3BF79}" type="datetime1">
              <a:rPr lang="en-US" smtClean="0"/>
              <a:pPr algn="ctr"/>
              <a:t>10/28/2025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B921B-DD78-3C8B-068B-1C9E374E2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1911" y="6366378"/>
            <a:ext cx="523150" cy="325087"/>
          </a:xfrm>
        </p:spPr>
        <p:txBody>
          <a:bodyPr/>
          <a:lstStyle/>
          <a:p>
            <a:pPr algn="ctr"/>
            <a:fld id="{D3060201-1C40-4B39-813D-5CD9493BAEED}" type="slidenum">
              <a:rPr lang="en-US" smtClean="0"/>
              <a:pPr algn="ct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EA43-4E0C-50B7-AD9E-91425153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350D35E-BC9D-8895-D368-AD758733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Agentic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43F1970-05A1-EF62-67BF-A89B031E7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cs typeface="Ubuntu"/>
                    <a:sym typeface="Ubuntu"/>
                  </a:rPr>
                  <a:t>Define the objective function as: </a:t>
                </a:r>
                <a14:m>
                  <m:oMath xmlns:m="http://schemas.openxmlformats.org/officeDocument/2006/math">
                    <m:r>
                      <a:rPr lang="es-ES" sz="1400" b="0" i="0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</m:t>
                    </m:r>
                    <m:r>
                      <a:rPr lang="es-ES" sz="1400" b="0" i="1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𝐽</m:t>
                    </m:r>
                    <m:d>
                      <m:dPr>
                        <m:ctrlP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  <m: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, </m:t>
                        </m:r>
                        <m:sSub>
                          <m:sSubPr>
                            <m:ctrlP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𝑂</m:t>
                            </m:r>
                          </m:e>
                          <m:sub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</m:e>
                    </m:d>
                    <m:r>
                      <a:rPr lang="es-ES" sz="1400" b="0" i="1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=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𝛼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∗</m:t>
                    </m:r>
                    <m:r>
                      <m:rPr>
                        <m:sty m:val="p"/>
                      </m:rPr>
                      <a:rPr lang="es-ES" sz="140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Δ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𝑂𝑟𝑒𝑅𝑎𝑡𝑒</m:t>
                    </m:r>
                    <m:r>
                      <a:rPr lang="es-ES" sz="1400" b="0" i="1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+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𝛽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∗ 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𝑂𝑟𝑒𝑊𝑒𝑖𝑔h𝑡</m:t>
                    </m:r>
                    <m:r>
                      <a:rPr lang="es-ES" sz="14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−</m:t>
                    </m:r>
                    <m:sSub>
                      <m:sSubPr>
                        <m:ctrlPr>
                          <a:rPr lang="es-ES" sz="14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sSubPr>
                      <m:e>
                        <m:r>
                          <a:rPr lang="es-ES" sz="14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𝐿</m:t>
                        </m:r>
                      </m:e>
                      <m:sub>
                        <m:r>
                          <a:rPr lang="es-ES" sz="14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ES" sz="14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  <m:r>
                          <a:rPr lang="es-ES" sz="14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, </m:t>
                        </m:r>
                        <m:sSub>
                          <m:sSubPr>
                            <m:ctrlP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𝑂</m:t>
                            </m:r>
                          </m:e>
                          <m:sub>
                            <m:r>
                              <a:rPr lang="es-ES" sz="14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>
                  <a:cs typeface="Ubuntu"/>
                  <a:sym typeface="Ubuntu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cs typeface="Ubuntu"/>
                    <a:sym typeface="Ubuntu"/>
                  </a:rPr>
                  <a:t>Where: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sSubPr>
                      <m:e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𝐶</m:t>
                        </m:r>
                      </m:e>
                      <m:sub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 is the current position.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sSubPr>
                      <m:e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𝑂</m:t>
                        </m:r>
                      </m:e>
                      <m:sub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 is the objective ore position, e.g. center of the surface.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sSubPr>
                      <m:e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𝐿</m:t>
                        </m:r>
                      </m:e>
                      <m:sub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  <m:r>
                          <a:rPr lang="es-ES" sz="1200" i="1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, </m:t>
                        </m:r>
                        <m:sSub>
                          <m:sSubPr>
                            <m:ctrlP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sSubPr>
                          <m:e>
                            <m: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𝑂</m:t>
                            </m:r>
                          </m:e>
                          <m:sub>
                            <m:r>
                              <a:rPr lang="es-ES" sz="1200" i="1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𝑃</m:t>
                            </m:r>
                          </m:sub>
                        </m:sSub>
                      </m:e>
                    </m:d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</m:t>
                    </m:r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is the Euclidean distance between current and target positions.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𝛼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𝛽</m:t>
                    </m:r>
                    <m:r>
                      <a:rPr lang="es-ES" sz="1200" i="1" dirty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&gt;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0 </m:t>
                    </m:r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are weighting coefficients.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𝑂𝑟𝑒𝑊𝑒𝑖𝑔h</m:t>
                    </m:r>
                    <m:r>
                      <a:rPr lang="es-ES" sz="1200" b="0" i="1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𝑡</m:t>
                    </m:r>
                    <m:r>
                      <a:rPr lang="en-US" sz="1200" i="1" dirty="0" smtClean="0">
                        <a:cs typeface="Ubuntu"/>
                      </a:rPr>
                      <m:t>∈</m:t>
                    </m:r>
                    <m:r>
                      <m:rPr>
                        <m:nor/>
                      </m:rPr>
                      <a:rPr lang="en-US" sz="1200" dirty="0" smtClean="0">
                        <a:cs typeface="Ubuntu"/>
                      </a:rPr>
                      <m:t>[</m:t>
                    </m:r>
                    <m:r>
                      <m:rPr>
                        <m:nor/>
                      </m:rPr>
                      <a:rPr lang="en-US" sz="1200" dirty="0">
                        <a:cs typeface="Ubuntu"/>
                      </a:rPr>
                      <m:t>0,1]</m:t>
                    </m:r>
                  </m:oMath>
                </a14:m>
                <a:r>
                  <a:rPr lang="en-US" sz="1200" dirty="0">
                    <a:cs typeface="Ubuntu"/>
                  </a:rPr>
                  <a:t> is a reward value representing the presence/distance of the desired ore.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20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Δ</m:t>
                    </m:r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𝑂𝑟𝑒𝑅𝑎𝑡𝑒</m:t>
                    </m:r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 </m:t>
                    </m:r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is the rate of change of ore in the vicinity (border detection).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1200" dirty="0">
                  <a:cs typeface="Ubuntu"/>
                  <a:sym typeface="Ubuntu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cs typeface="Ubuntu"/>
                    <a:sym typeface="Ubuntu"/>
                  </a:rPr>
                  <a:t>The exploration policy is designed to: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200" dirty="0">
                    <a:cs typeface="Ubuntu"/>
                    <a:sym typeface="Ubuntu"/>
                  </a:rPr>
                  <a:t>Maximize</a:t>
                </a:r>
                <a:r>
                  <a:rPr lang="es-ES" sz="1200" dirty="0">
                    <a:cs typeface="Ubuntu"/>
                    <a:sym typeface="Ubuntu"/>
                  </a:rPr>
                  <a:t> </a:t>
                </a:r>
                <a14:m>
                  <m:oMath xmlns:m="http://schemas.openxmlformats.org/officeDocument/2006/math"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𝑂𝑟𝑒𝑊𝑒𝑖𝑔h𝑡</m:t>
                    </m:r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 to stay within the objective ore area.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200" dirty="0">
                    <a:cs typeface="Ubuntu"/>
                    <a:sym typeface="Ubuntu"/>
                  </a:rPr>
                  <a:t>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20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Δ</m:t>
                    </m:r>
                    <m:r>
                      <a:rPr lang="es-ES" sz="1200" i="1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𝑂𝑟𝑒𝑅𝑎𝑡𝑒</m:t>
                    </m:r>
                  </m:oMath>
                </a14:m>
                <a:r>
                  <a:rPr lang="en-US" sz="1200" dirty="0">
                    <a:cs typeface="Ubuntu"/>
                    <a:sym typeface="Ubuntu"/>
                  </a:rPr>
                  <a:t> to stay near the boundary of the objective ore.</a:t>
                </a: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cs typeface="Ubuntu"/>
                    <a:sym typeface="Ubuntu"/>
                  </a:rPr>
                  <a:t>Hence, the optimal control action is: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sSubSupPr>
                      <m:e>
                        <m: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𝐶</m:t>
                        </m:r>
                      </m:e>
                      <m:sub>
                        <m: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𝑃</m:t>
                        </m:r>
                      </m:sub>
                      <m:sup>
                        <m: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∗</m:t>
                        </m:r>
                      </m:sup>
                    </m:sSubSup>
                    <m:r>
                      <a:rPr lang="es-ES" sz="1400" b="0" i="1" smtClean="0">
                        <a:latin typeface="Cambria Math" panose="02040503050406030204" pitchFamily="18" charset="0"/>
                        <a:cs typeface="Ubuntu"/>
                        <a:sym typeface="Ubuntu"/>
                      </a:rPr>
                      <m:t>=</m:t>
                    </m:r>
                    <m:func>
                      <m:funcPr>
                        <m:ctrlPr>
                          <a:rPr lang="es-ES" sz="1400" b="0" i="1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sz="1400" b="0" i="0" smtClean="0">
                            <a:latin typeface="Cambria Math" panose="02040503050406030204" pitchFamily="18" charset="0"/>
                            <a:cs typeface="Ubuntu"/>
                            <a:sym typeface="Ubuntu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s-ES" sz="1400" b="0" i="0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  <a:cs typeface="Ubuntu"/>
                                        <a:sym typeface="Ubuntu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  <a:cs typeface="Ubuntu"/>
                                        <a:sym typeface="Ubuntu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  <a:cs typeface="Ubuntu"/>
                                        <a:sym typeface="Ubuntu"/>
                                      </a:rPr>
                                      <m:t>𝑝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𝐽</m:t>
                            </m:r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</m:ctrlPr>
                              </m:sSubPr>
                              <m:e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</m:ctrlPr>
                              </m:sSubPr>
                              <m:e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s-ES" sz="1400" b="0" i="1" smtClean="0">
                                    <a:latin typeface="Cambria Math" panose="02040503050406030204" pitchFamily="18" charset="0"/>
                                    <a:cs typeface="Ubuntu"/>
                                    <a:sym typeface="Ubuntu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s-ES" sz="1400" b="0" i="1" smtClean="0">
                                <a:latin typeface="Cambria Math" panose="02040503050406030204" pitchFamily="18" charset="0"/>
                                <a:cs typeface="Ubuntu"/>
                                <a:sym typeface="Ubuntu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1200" dirty="0">
                  <a:cs typeface="Ubuntu"/>
                  <a:sym typeface="Ubuntu"/>
                </a:endParaRPr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43F1970-05A1-EF62-67BF-A89B031E7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448D7-1DAD-9FE4-4044-B15442237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51517" y="6366378"/>
            <a:ext cx="1559312" cy="365125"/>
          </a:xfrm>
        </p:spPr>
        <p:txBody>
          <a:bodyPr/>
          <a:lstStyle/>
          <a:p>
            <a:pPr algn="ctr"/>
            <a:fld id="{F72E42F2-007C-4A6F-85D4-2C8749D3BF79}" type="datetime1">
              <a:rPr lang="en-US" smtClean="0"/>
              <a:pPr algn="ctr"/>
              <a:t>10/28/2025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E31B7-45C1-6A3C-EB54-DFF7D16CC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1911" y="6366378"/>
            <a:ext cx="523150" cy="325087"/>
          </a:xfrm>
        </p:spPr>
        <p:txBody>
          <a:bodyPr/>
          <a:lstStyle/>
          <a:p>
            <a:pPr algn="ctr"/>
            <a:fld id="{D3060201-1C40-4B39-813D-5CD9493BAEED}" type="slidenum">
              <a:rPr lang="en-US" smtClean="0"/>
              <a:pPr algn="ctr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7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818AB-864A-4487-0718-67C08084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2DD478A-E807-DFF8-F98C-6695861BC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blue and black logo&#10;&#10;Description automatically generated">
            <a:extLst>
              <a:ext uri="{FF2B5EF4-FFF2-40B4-BE49-F238E27FC236}">
                <a16:creationId xmlns:a16="http://schemas.microsoft.com/office/drawing/2014/main" id="{CFB23DF2-FEFF-CCFB-16B2-F245D7BB5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48" y="4275312"/>
            <a:ext cx="1135690" cy="5587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54CE646-89A8-2446-558C-B074C21B9BD4}"/>
              </a:ext>
            </a:extLst>
          </p:cNvPr>
          <p:cNvSpPr txBox="1"/>
          <p:nvPr/>
        </p:nvSpPr>
        <p:spPr>
          <a:xfrm>
            <a:off x="5510213" y="64674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F5A8A0-E40C-C67F-149D-0105C5554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410" y="4275312"/>
            <a:ext cx="1720945" cy="558779"/>
          </a:xfrm>
          <a:prstGeom prst="rect">
            <a:avLst/>
          </a:prstGeom>
        </p:spPr>
      </p:pic>
      <p:pic>
        <p:nvPicPr>
          <p:cNvPr id="44" name="Picture 16">
            <a:extLst>
              <a:ext uri="{FF2B5EF4-FFF2-40B4-BE49-F238E27FC236}">
                <a16:creationId xmlns:a16="http://schemas.microsoft.com/office/drawing/2014/main" id="{4EC97529-212C-5C04-86D8-C81D35816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" t="7236" r="2275" b="7045"/>
          <a:stretch/>
        </p:blipFill>
        <p:spPr bwMode="auto">
          <a:xfrm>
            <a:off x="2186648" y="5273107"/>
            <a:ext cx="1725114" cy="56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97871126-43FC-91AA-916C-8109B8035F2C}"/>
              </a:ext>
            </a:extLst>
          </p:cNvPr>
          <p:cNvSpPr txBox="1">
            <a:spLocks/>
          </p:cNvSpPr>
          <p:nvPr/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0" i="0" kern="1200" smtClean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Georgia" panose="02040502050405020303" pitchFamily="18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ctr"/>
            <a:r>
              <a:rPr lang="en-GB" sz="3600" b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25ADE-2437-D1E0-6809-214B61C452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7492" y="772376"/>
            <a:ext cx="2398779" cy="1863012"/>
          </a:xfrm>
          <a:prstGeom prst="rect">
            <a:avLst/>
          </a:prstGeom>
        </p:spPr>
      </p:pic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715B01B-9884-E300-1103-348135CA2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432" y="6255880"/>
            <a:ext cx="2284346" cy="508925"/>
          </a:xfrm>
          <a:prstGeom prst="rect">
            <a:avLst/>
          </a:prstGeom>
        </p:spPr>
      </p:pic>
      <p:pic>
        <p:nvPicPr>
          <p:cNvPr id="1026" name="Picture 2" descr="Wrocław University of Science and Technology | study.gov.pl">
            <a:extLst>
              <a:ext uri="{FF2B5EF4-FFF2-40B4-BE49-F238E27FC236}">
                <a16:creationId xmlns:a16="http://schemas.microsoft.com/office/drawing/2014/main" id="{35C6447D-DBFF-C98F-1EAA-1684F6E00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427" y="4272566"/>
            <a:ext cx="2196762" cy="56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Pact Project: Partners">
            <a:extLst>
              <a:ext uri="{FF2B5EF4-FFF2-40B4-BE49-F238E27FC236}">
                <a16:creationId xmlns:a16="http://schemas.microsoft.com/office/drawing/2014/main" id="{7DE52846-B4CD-AA32-E91E-9F34D3872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262" y="4278431"/>
            <a:ext cx="1550993" cy="55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dustrial Minerals Association Europe - Coralis">
            <a:extLst>
              <a:ext uri="{FF2B5EF4-FFF2-40B4-BE49-F238E27FC236}">
                <a16:creationId xmlns:a16="http://schemas.microsoft.com/office/drawing/2014/main" id="{89CC176A-453D-8C7D-242A-4A530D426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561" y="5272895"/>
            <a:ext cx="1129384" cy="56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ek Terna - Logos">
            <a:extLst>
              <a:ext uri="{FF2B5EF4-FFF2-40B4-BE49-F238E27FC236}">
                <a16:creationId xmlns:a16="http://schemas.microsoft.com/office/drawing/2014/main" id="{9C1507F0-40DB-FA8F-C5BA-96C67CE05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009" y="5275348"/>
            <a:ext cx="2127246" cy="55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0084CE-C20F-60CA-5914-9E02EA97E517}"/>
              </a:ext>
            </a:extLst>
          </p:cNvPr>
          <p:cNvSpPr txBox="1"/>
          <p:nvPr/>
        </p:nvSpPr>
        <p:spPr>
          <a:xfrm>
            <a:off x="4574673" y="6279511"/>
            <a:ext cx="5675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2637155" algn="ctr"/>
                <a:tab pos="5274310" algn="r"/>
              </a:tabLst>
            </a:pP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This project has received funding from the European Union’s Horizon Europe Research and Innovation </a:t>
            </a:r>
            <a:r>
              <a:rPr lang="en-US" sz="1200" dirty="0" err="1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Programme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under the Grant Agreement No.</a:t>
            </a:r>
            <a:r>
              <a:rPr lang="en-US" sz="1200" dirty="0"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7F7F7F"/>
                </a:solidFill>
                <a:effectLst/>
                <a:latin typeface="Georgia" panose="02040502050405020303" pitchFamily="18" charset="0"/>
                <a:ea typeface="Cambria" panose="02040503050406030204" pitchFamily="18" charset="0"/>
                <a:cs typeface="Arial" panose="020B0604020202020204" pitchFamily="34" charset="0"/>
              </a:rPr>
              <a:t>101178775</a:t>
            </a:r>
            <a:endParaRPr lang="en-US" sz="1200" dirty="0">
              <a:effectLst/>
              <a:latin typeface="Georgia" panose="02040502050405020303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E74300BA-D1E8-EA5E-4DF6-E4D21EBA0B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465" y="5208775"/>
            <a:ext cx="137160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8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FCBF2-E904-9A8D-0FEF-F6F2F127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82BF8DF-E1E9-7788-2CAB-07D57DEBB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17FD0-92E6-93C8-788C-8B74863051C6}"/>
              </a:ext>
            </a:extLst>
          </p:cNvPr>
          <p:cNvSpPr txBox="1"/>
          <p:nvPr/>
        </p:nvSpPr>
        <p:spPr>
          <a:xfrm>
            <a:off x="5357813" y="63150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DCD02-4EEB-59CA-710C-D5A43FF58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96610" y="2497494"/>
            <a:ext cx="2398779" cy="186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54186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D4C528209F004C9CE16599C6918161" ma:contentTypeVersion="16" ma:contentTypeDescription="Create a new document." ma:contentTypeScope="" ma:versionID="bac8394bbd00bb96f36d27dedc9a7af3">
  <xsd:schema xmlns:xsd="http://www.w3.org/2001/XMLSchema" xmlns:xs="http://www.w3.org/2001/XMLSchema" xmlns:p="http://schemas.microsoft.com/office/2006/metadata/properties" xmlns:ns2="5cb2c2b6-6990-4b3d-95fd-95db4be82651" xmlns:ns3="b39143da-01c5-4188-ac2b-d4f43a994137" targetNamespace="http://schemas.microsoft.com/office/2006/metadata/properties" ma:root="true" ma:fieldsID="be97f65a15a7e750bade5bfa044263bb" ns2:_="" ns3:_="">
    <xsd:import namespace="5cb2c2b6-6990-4b3d-95fd-95db4be82651"/>
    <xsd:import namespace="b39143da-01c5-4188-ac2b-d4f43a9941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2c2b6-6990-4b3d-95fd-95db4be826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30095c5-9845-4c19-ae12-55c1b63ea1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143da-01c5-4188-ac2b-d4f43a99413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a2cc5b59-ca6c-47db-a397-12b1a9fc57d6}" ma:internalName="TaxCatchAll" ma:showField="CatchAllData" ma:web="b39143da-01c5-4188-ac2b-d4f43a9941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b2c2b6-6990-4b3d-95fd-95db4be82651">
      <Terms xmlns="http://schemas.microsoft.com/office/infopath/2007/PartnerControls"/>
    </lcf76f155ced4ddcb4097134ff3c332f>
    <TaxCatchAll xmlns="b39143da-01c5-4188-ac2b-d4f43a994137" xsi:nil="true"/>
  </documentManagement>
</p:properties>
</file>

<file path=customXml/itemProps1.xml><?xml version="1.0" encoding="utf-8"?>
<ds:datastoreItem xmlns:ds="http://schemas.openxmlformats.org/officeDocument/2006/customXml" ds:itemID="{261E82C0-837C-4524-B0A8-51AF1525D6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b2c2b6-6990-4b3d-95fd-95db4be82651"/>
    <ds:schemaRef ds:uri="b39143da-01c5-4188-ac2b-d4f43a9941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912656-B3E0-4AD4-8D14-9B6E1F8A20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D8F018-DE3A-494B-A7B0-9C172389497D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5cb2c2b6-6990-4b3d-95fd-95db4be82651"/>
    <ds:schemaRef ds:uri="http://schemas.microsoft.com/office/infopath/2007/PartnerControls"/>
    <ds:schemaRef ds:uri="b39143da-01c5-4188-ac2b-d4f43a994137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453408b-a6cd-4c1e-8b10-18b500fb544e}" enabled="0" method="" siteId="{5453408b-a6cd-4c1e-8b10-18b500fb54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2237</TotalTime>
  <Words>327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Aharoni</vt:lpstr>
      <vt:lpstr>Aptos</vt:lpstr>
      <vt:lpstr>Arial</vt:lpstr>
      <vt:lpstr>Cambria Math</vt:lpstr>
      <vt:lpstr>Georgia</vt:lpstr>
      <vt:lpstr>Ubuntu</vt:lpstr>
      <vt:lpstr>Verdana</vt:lpstr>
      <vt:lpstr>FadeVTI</vt:lpstr>
      <vt:lpstr> </vt:lpstr>
      <vt:lpstr>Presentación de PowerPoint</vt:lpstr>
      <vt:lpstr>Surface Design</vt:lpstr>
      <vt:lpstr>Discretization Step</vt:lpstr>
      <vt:lpstr>Agentic Control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 </dc:title>
  <dc:creator>Rucha Sawlekar</dc:creator>
  <cp:lastModifiedBy>Fernando Labra Caso</cp:lastModifiedBy>
  <cp:revision>44</cp:revision>
  <dcterms:created xsi:type="dcterms:W3CDTF">2024-01-31T09:37:16Z</dcterms:created>
  <dcterms:modified xsi:type="dcterms:W3CDTF">2025-10-28T11:17:19Z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0x01010070D4C528209F004C9CE16599C6918161</vt:lpwstr>
  </property>
  <property fmtid="{D5CDD505-2E9C-101B-9397-08002B2CF9AE}" pid="3" name="MediaServiceImageTags">
    <vt:lpwstr/>
  </property>
</Properties>
</file>